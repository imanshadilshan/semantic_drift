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297680"/>
            <a:ext cx="12191695" cy="5486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Detecting and Mitigating Semantic Drift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in Multi-Turn Instruction-Based Image Editing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26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R. W. V. Imansha Dilshan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9D6E6"/>
                </a:solidFill>
                <a:latin typeface="Calibri"/>
              </a:rPr>
              <a:t>Software Engineering Teaching Unit</a:t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9D6E6"/>
                </a:solidFill>
                <a:latin typeface="Calibri"/>
              </a:rPr>
              <a:t>University of Kelaniya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B6834"/>
                </a:solidFill>
                <a:latin typeface="Calibri"/>
              </a:rPr>
              <a:t>Undergraduate Research Project - Final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Editors follow the instruction. What else do they change?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Instruction-based editors (InstructPix2Pix) let users refine an image turn by turn:</a:t>
            </a:r>
          </a:p>
          <a:p>
            <a:pPr>
              <a:spcAft>
                <a:spcPts val="1400"/>
              </a:spcAft>
            </a:pPr>
            <a:r>
              <a:rPr sz="1750" b="0">
                <a:solidFill>
                  <a:srgbClr val="5B636E"/>
                </a:solidFill>
                <a:latin typeface="Calibri"/>
              </a:rPr>
              <a:t>     •  "make the sky sunset" then "add a bird" then "remove the fence"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A model can follow every single instruction correctly, and still drift further and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further from what the user wanted, because nothing constrains it to leave the rest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of the image alone.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Existing evaluation (CLIP scores, human preference studies) checks whether the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requested change happened. None of it checks what else changed as a side effect.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49240"/>
            <a:ext cx="1106424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50468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3B5C"/>
                </a:solidFill>
                <a:latin typeface="Calibri"/>
              </a:rPr>
              <a:t>This project calls that side effect semantic drift, and asks whether it can 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7044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3B5C"/>
                </a:solidFill>
                <a:latin typeface="Calibri"/>
              </a:rPr>
              <a:t>measured automatically and reduced cheaply.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Three research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554480" cy="1325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673352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2272E"/>
                </a:solidFill>
                <a:latin typeface="Calibri"/>
              </a:rPr>
              <a:t>Can unintended drift be measured automatically,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167128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6E"/>
                </a:solidFill>
                <a:latin typeface="Calibri"/>
              </a:rPr>
              <a:t>without manually inspecting every edited image?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1554480" cy="13258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38728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227832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2272E"/>
                </a:solidFill>
                <a:latin typeface="Calibri"/>
              </a:rPr>
              <a:t>Does drift accumulate as an edit chain gets longer,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721608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6E"/>
                </a:solidFill>
                <a:latin typeface="Calibri"/>
              </a:rPr>
              <a:t>so later instructions cause more collateral damage than earlier ones?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09160"/>
            <a:ext cx="1554480" cy="13258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093208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782312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2272E"/>
                </a:solidFill>
                <a:latin typeface="Calibri"/>
              </a:rPr>
              <a:t>Can cheap, pretrained-model-only interventions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276088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6E"/>
                </a:solidFill>
                <a:latin typeface="Calibri"/>
              </a:rPr>
              <a:t>reduce that drift?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B636E"/>
                </a:solidFill>
                <a:latin typeface="Calibri"/>
              </a:rPr>
              <a:t>Uses only pretrained models: no training or fine-tuning of any editing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prior approaches do not measure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6479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72E"/>
                </a:solidFill>
                <a:latin typeface="Calibri"/>
              </a:rPr>
              <a:t>Prompt-to-Prompt / Plug-and-Play / MasaCtrl / Null-text Inv.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671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Produce a more consistent single 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88920"/>
            <a:ext cx="110642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6207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72E"/>
                </a:solidFill>
                <a:latin typeface="Calibri"/>
              </a:rPr>
              <a:t>Emu Edit / HIVE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6440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Improve whether the requested edit happened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110642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5935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72E"/>
                </a:solidFill>
                <a:latin typeface="Calibri"/>
              </a:rPr>
              <a:t>MagicBrush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6168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Multi-turn data, but only checks the target region changed correctly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83480"/>
            <a:ext cx="11064240" cy="9601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5663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This work (Drift Score)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5896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DDE8F7"/>
                </a:solidFill>
                <a:latin typeface="Calibri"/>
              </a:rPr>
              <a:t>Measures unintended change, across a chain, with mitigations compared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Drift Score</a:t>
            </a:r>
          </a:p>
        </p:txBody>
      </p:sp>
      <p:pic>
        <p:nvPicPr>
          <p:cNvPr id="5" name="Picture 4" descr="fig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603" y="1463040"/>
            <a:ext cx="4524314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520440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72E"/>
                </a:solidFill>
                <a:latin typeface="Calibri"/>
              </a:rPr>
              <a:t>-  Segment the pre-edit image with SAM into regions.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72E"/>
                </a:solidFill>
                <a:latin typeface="Calibri"/>
              </a:rPr>
              <a:t>-  Identify the target region: the box CLIP finds most similar to the instruction text.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72E"/>
                </a:solidFill>
                <a:latin typeface="Calibri"/>
              </a:rPr>
              <a:t>-  For every OTHER (non-target) region, measure 1 minus CLIP cosine similarity between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5B636E"/>
                </a:solidFill>
                <a:latin typeface="Calibri"/>
              </a:rPr>
              <a:t>     •  its pre-edit and post-edit crop.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72E"/>
                </a:solidFill>
                <a:latin typeface="Calibri"/>
              </a:rPr>
              <a:t>-  Per-step Drift Score = mean drift over non-target regions.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72E"/>
                </a:solidFill>
                <a:latin typeface="Calibri"/>
              </a:rPr>
              <a:t>-  Cumulative Drift Score = sum of per-step scores across a chain. Higher = more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5B636E"/>
                </a:solidFill>
                <a:latin typeface="Calibri"/>
              </a:rPr>
              <a:t>     •  unintended change accumulated.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Dataset: 120 four-step edit chains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3566160" cy="15544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2A78D6"/>
                </a:solidFill>
                <a:latin typeface="Calibri"/>
              </a:rPr>
              <a:t>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COCO val2017 images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600200"/>
            <a:ext cx="3566160" cy="15544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79" y="17373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EB6834"/>
                </a:solidFill>
                <a:latin typeface="Calibri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6060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edit chains, 4 steps each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8" y="1600200"/>
            <a:ext cx="3566160" cy="15544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8" y="17373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BAF7A"/>
                </a:solidFill>
                <a:latin typeface="Calibri"/>
              </a:rPr>
              <a:t>480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8" y="26060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individual edit instructions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Chain A (object-level): 4 localized, single-object edits per image</a:t>
            </a:r>
          </a:p>
          <a:p>
            <a:pPr>
              <a:spcAft>
                <a:spcPts val="8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e.g. change a horse's color, then remove an obstacle in front of it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Chain B (global): 4 broad, scene-level edits per image</a:t>
            </a:r>
          </a:p>
          <a:p>
            <a:pPr>
              <a:spcAft>
                <a:spcPts val="8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e.g. make the scene rainy, then add sunset lighting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Every image inspected individually and hand-written, not template-generated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Instruction verbs (all 480): change 108, add 114, remove 60, global/stylistic 198</a:t>
            </a:r>
          </a:p>
          <a:p>
            <a:pPr>
              <a:spcAft>
                <a:spcPts val="8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(hand-written by a single author, a stated bias, not crowd-sourced)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Two mitigation strategies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39496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B6834"/>
                </a:solidFill>
                <a:latin typeface="Calibri"/>
              </a:rPr>
              <a:t>Region-Locking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Run the edit on the full image as usual.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Revert every pixel outside the target region's box back to the pre-edit image.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A correction applied AFTER generation.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00200"/>
            <a:ext cx="539496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BAF7A"/>
                </a:solidFill>
                <a:latin typeface="Calibri"/>
              </a:rPr>
              <a:t>Masked Conditioning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Crop the image to the target region, plus a 32-pixel context margin.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Generate the edit only on that crop.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Paste the result back into the full frame. The model never sees the rest of the</a:t>
            </a:r>
          </a:p>
          <a:p>
            <a:pPr>
              <a:spcAft>
                <a:spcPts val="12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image, a constraint applied AT generation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B636E"/>
                </a:solidFill>
                <a:latin typeface="Calibri"/>
              </a:rPr>
              <a:t>Both use the identical SAM + CLIP target-region procedure the Drift Score itself uses.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 second, independent check: Edit Adherence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Low unintended change only matters if the requested edit still happened.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Edit Adherence Score = whole-image CLIP similarity between the final image and the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36E"/>
                </a:solidFill>
                <a:latin typeface="Calibri"/>
              </a:rPr>
              <a:t>     •  final instruction's text.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Computed identically for all three conditions, with no region segmentation at all,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so it cannot inherit the target-box definition the Drift Score and region-locking share.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64240" cy="1554480"/>
          </a:xfrm>
          <a:prstGeom prst="rect">
            <a:avLst/>
          </a:prstGeom>
          <a:solidFill>
            <a:srgbClr val="FB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B6834"/>
                </a:solidFill>
                <a:latin typeface="Calibri"/>
              </a:rPr>
              <a:t>Why this matters: region-locking's low drift score is EXPECTED almost by definition,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17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B6834"/>
                </a:solidFill>
                <a:latin typeface="Calibri"/>
              </a:rPr>
              <a:t>since it reverts pixels using the same box the score excludes. This metric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B6834"/>
                </a:solidFill>
                <a:latin typeface="Calibri"/>
              </a:rPr>
              <a:t>that concern directly, with independent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RESULTS - RQ1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Does the score agree with what the eye sees?</a:t>
            </a:r>
          </a:p>
        </p:txBody>
      </p:sp>
      <p:pic>
        <p:nvPicPr>
          <p:cNvPr id="5" name="Picture 4" descr="fig5_surfer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2057"/>
            <a:ext cx="5486400" cy="29994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Lowest-scoring chain (0.082): only the outfit and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surfboard color change; wave, spray, and sky untouched.</a:t>
            </a:r>
          </a:p>
        </p:txBody>
      </p:sp>
      <p:pic>
        <p:nvPicPr>
          <p:cNvPr id="7" name="Picture 6" descr="fig3_qualitative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20539"/>
            <a:ext cx="5394960" cy="15025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45720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Highest-scoring chain (0.565): a severe editing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B636E"/>
                </a:solidFill>
                <a:latin typeface="Calibri"/>
              </a:rPr>
              <a:t>failure, collapses to near-black by step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3B5C"/>
                </a:solidFill>
                <a:latin typeface="Calibri"/>
              </a:rPr>
              <a:t>The metric correctly ranks the best and worst chains in the dataset, agreement between the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3B5C"/>
                </a:solidFill>
                <a:latin typeface="Calibri"/>
              </a:rPr>
              <a:t>number and visible content that a purely statistical validation cannot substitute for.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RESULTS - 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Both mitigations cut drift by a wide margin</a:t>
            </a:r>
          </a:p>
        </p:txBody>
      </p:sp>
      <p:pic>
        <p:nvPicPr>
          <p:cNvPr id="5" name="Picture 4" descr="fig2_drift_by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75" y="1463040"/>
            <a:ext cx="5338689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66560" y="1920240"/>
            <a:ext cx="173736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0391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Condition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1920240"/>
            <a:ext cx="86868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20391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1920240"/>
            <a:ext cx="105156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039112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1920240"/>
            <a:ext cx="105156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039112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75720" y="1920240"/>
            <a:ext cx="68580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75720" y="20391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2487168"/>
            <a:ext cx="17373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272E"/>
                </a:solidFill>
                <a:latin typeface="Calibri"/>
              </a:rPr>
              <a:t>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2487168"/>
            <a:ext cx="86868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60604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0.293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2487168"/>
            <a:ext cx="10515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260604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87168"/>
            <a:ext cx="10515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0" y="260604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75720" y="2487168"/>
            <a:ext cx="68580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5720" y="260604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054096"/>
            <a:ext cx="1737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31729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272E"/>
                </a:solidFill>
                <a:latin typeface="Calibri"/>
              </a:rPr>
              <a:t>Masked Cond.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3054096"/>
            <a:ext cx="8686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3172968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0.092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2600" y="3054096"/>
            <a:ext cx="1051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3172968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68.6%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054096"/>
            <a:ext cx="1051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0" y="3172968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&lt;0.0001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75720" y="3054096"/>
            <a:ext cx="685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75720" y="317296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1.73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3621024"/>
            <a:ext cx="17373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7398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272E"/>
                </a:solidFill>
                <a:latin typeface="Calibri"/>
              </a:rPr>
              <a:t>Region-Locking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03920" y="3621024"/>
            <a:ext cx="86868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3739896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0.032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72600" y="3621024"/>
            <a:ext cx="10515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3739896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89.1%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3621024"/>
            <a:ext cx="10515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3739896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&lt;0.0001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75720" y="3621024"/>
            <a:ext cx="68580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75720" y="3739896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72E"/>
                </a:solidFill>
                <a:latin typeface="Calibri"/>
              </a:rPr>
              <a:t>2.68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370832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B636E"/>
                </a:solidFill>
                <a:latin typeface="Calibri"/>
              </a:rPr>
              <a:t>Region-locking also beats masked conditioning</a:t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B636E"/>
                </a:solidFill>
                <a:latin typeface="Calibri"/>
              </a:rPr>
              <a:t>directly (p&lt;0.0001, dz=1.05). Rank-biserial</a:t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B636E"/>
                </a:solidFill>
                <a:latin typeface="Calibri"/>
              </a:rPr>
              <a:t>correlation = 1.00: every one of 120 paired</a:t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B636E"/>
                </a:solidFill>
                <a:latin typeface="Calibri"/>
              </a:rPr>
              <a:t>chains favored region-locking.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Real, but modest, cost to instruction-following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283464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1051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Condition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691640"/>
            <a:ext cx="173736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105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CLIP 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691640"/>
            <a:ext cx="173736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8105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vs. Baseline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691640"/>
            <a:ext cx="173736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691640"/>
            <a:ext cx="1280160" cy="566928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18105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dz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258568"/>
            <a:ext cx="283464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2272E"/>
                </a:solidFill>
                <a:latin typeface="Calibri"/>
              </a:rPr>
              <a:t>Baseline (pre-edit)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2258568"/>
            <a:ext cx="17373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3774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0.230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2258568"/>
            <a:ext cx="17373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23774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258568"/>
            <a:ext cx="17373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3774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258568"/>
            <a:ext cx="12801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23774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2825496"/>
            <a:ext cx="2834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4436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2272E"/>
                </a:solidFill>
                <a:latin typeface="Calibri"/>
              </a:rPr>
              <a:t>Baseline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2825496"/>
            <a:ext cx="1737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29443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0.245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0" y="2825496"/>
            <a:ext cx="1737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0" y="29443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2825496"/>
            <a:ext cx="1737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0" y="29443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0" y="2825496"/>
            <a:ext cx="12801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2944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92424"/>
            <a:ext cx="283464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3511296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2272E"/>
                </a:solidFill>
                <a:latin typeface="Calibri"/>
              </a:rPr>
              <a:t>Masked Conditioning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3392424"/>
            <a:ext cx="17373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0" y="35112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0.225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3392424"/>
            <a:ext cx="17373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35112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-0.020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3392424"/>
            <a:ext cx="17373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35112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&lt;0.0001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78240" y="3392424"/>
            <a:ext cx="1280160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3511296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-0.51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3959352"/>
            <a:ext cx="2834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4078224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2272E"/>
                </a:solidFill>
                <a:latin typeface="Calibri"/>
              </a:rPr>
              <a:t>Region-Locking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3959352"/>
            <a:ext cx="1737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66160" y="40782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0.217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0" y="3959352"/>
            <a:ext cx="1737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0" y="40782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-0.028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40880" y="3959352"/>
            <a:ext cx="1737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0" y="40782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&lt;0.0001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78240" y="3959352"/>
            <a:ext cx="12801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0" y="4078224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72E"/>
                </a:solidFill>
                <a:latin typeface="Calibri"/>
              </a:rPr>
              <a:t>-0.68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520" y="4663440"/>
            <a:ext cx="10698480" cy="1508760"/>
          </a:xfrm>
          <a:prstGeom prst="rect">
            <a:avLst/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5840" y="480060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2272E"/>
                </a:solidFill>
                <a:latin typeface="Calibri"/>
              </a:rPr>
              <a:t>-  Both mitigations do cost real instruction-adherence (p&lt;0.0001, not zero).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72E"/>
                </a:solidFill>
                <a:latin typeface="Calibri"/>
              </a:rPr>
              <a:t>-  But the cost's effect size (dz 0.51 to 0.68) is under half the size of the matching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5B636E"/>
                </a:solidFill>
                <a:latin typeface="Calibri"/>
              </a:rPr>
              <a:t>     •  drift-reduction effect size (dz 1.73 to 2.68).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72E"/>
                </a:solidFill>
                <a:latin typeface="Calibri"/>
              </a:rPr>
              <a:t>-  A genuine, quantified trade-off that favors both mitigations, not a free lunch,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5B636E"/>
                </a:solidFill>
                <a:latin typeface="Calibri"/>
              </a:rPr>
              <a:t>     •  and not circular reasoning either.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RESULTS - RQ2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Drift did not compound the way we expected</a:t>
            </a:r>
          </a:p>
        </p:txBody>
      </p:sp>
      <p:pic>
        <p:nvPicPr>
          <p:cNvPr id="5" name="Picture 4" descr="fig4_step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405" y="1463040"/>
            <a:ext cx="522263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7373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No single consecutive step transition is significant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(1→2: p=0.85, 2→3: p=0.33, 3→4: p=0.47)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Step 1 vs. step 4 IS significant (p=0.012), but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step 4 shows LESS drift than step 1, the reverse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of the predicted direction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72E"/>
                </a:solidFill>
                <a:latin typeface="Calibri"/>
              </a:rPr>
              <a:t>-  Explanation: a chain that collapses catastrophically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early has little room left to register as further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changed, a measurement ceiling effect, not proof</a:t>
            </a:r>
          </a:p>
          <a:p>
            <a:pPr>
              <a:spcAft>
                <a:spcPts val="1000"/>
              </a:spcAft>
            </a:pPr>
            <a:r>
              <a:rPr sz="1450" b="0">
                <a:solidFill>
                  <a:srgbClr val="5B636E"/>
                </a:solidFill>
                <a:latin typeface="Calibri"/>
              </a:rPr>
              <a:t>     •  that later edits are genuinely gentler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Two hypotheses reversed. Both have a mechanism.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1064240" cy="2103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B6834"/>
                </a:solidFill>
                <a:latin typeface="Calibri"/>
              </a:rPr>
              <a:t>H2: masked conditioning was predicted to beat region-locking. It didn't.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72E"/>
                </a:solidFill>
                <a:latin typeface="Calibri"/>
              </a:rPr>
              <a:t>Masked conditioning edits a padded crop (target box + 32px margin) that the Drift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72E"/>
                </a:solidFill>
                <a:latin typeface="Calibri"/>
              </a:rPr>
              <a:t>Score does NOT exclude from scoring, so its own padding ring counts as drift even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72E"/>
                </a:solidFill>
                <a:latin typeface="Calibri"/>
              </a:rPr>
              <a:t>when nothing objectionable happened there. Region-locking's hard revert has no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72E"/>
                </a:solidFill>
                <a:latin typeface="Calibri"/>
              </a:rPr>
              <a:t>equivalent margin.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886200"/>
            <a:ext cx="11064240" cy="2103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B6834"/>
                </a:solidFill>
                <a:latin typeface="Calibri"/>
              </a:rPr>
              <a:t>H1: drift was predicted to compound across the chain. It didn't, measurably.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72E"/>
                </a:solidFill>
                <a:latin typeface="Calibri"/>
              </a:rPr>
              <a:t>A shared weak point for both mitigations: CLIP target-region identification is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72E"/>
                </a:solidFill>
                <a:latin typeface="Calibri"/>
              </a:rPr>
              <a:t>unreliable for "add X" instructions, since nothing pre-existing matches well. One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72E"/>
                </a:solidFill>
                <a:latin typeface="Calibri"/>
              </a:rPr>
              <a:t>traced failure: an "add a cap" box covered 99.6% of the frame, giving neither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72E"/>
                </a:solidFill>
                <a:latin typeface="Calibri"/>
              </a:rPr>
              <a:t>mitigation a meaningful constraint on that 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Seven constraints on the present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60-image, 120-chain dataset: an initial empirical study, not a definitive benchmark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Instructions hand-written by a single author, not crowd-sourced (a stated bias)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All results specific to InstructPix2Pix; model-agnosticism is a design goal, untested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CLIP similarity is an imperfect proxy for human-perceived change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The human-rating tool (15 stratified chains) was built but not administered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Target-region identification is a known weak point for "add" instructions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Attention-restricted editing was scoped but not implemented (RQ3 answered without 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RQ1 and RQ3: yes. RQ2: more interesting than yes/no.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RQ1: unintended drift CAN be measured automatically, and the metric agrees with</a:t>
            </a:r>
          </a:p>
          <a:p>
            <a:pPr>
              <a:spcAft>
                <a:spcPts val="1200"/>
              </a:spcAft>
            </a:pPr>
            <a:r>
              <a:rPr sz="1650" b="0">
                <a:solidFill>
                  <a:srgbClr val="5B636E"/>
                </a:solidFill>
                <a:latin typeface="Calibri"/>
              </a:rPr>
              <a:t>     •  visible content on both the best and worst chains in the dataset.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RQ3: cheap, pretrained-model-only mitigations DO work. Region-locking cuts drift</a:t>
            </a:r>
          </a:p>
          <a:p>
            <a:pPr>
              <a:spcAft>
                <a:spcPts val="1200"/>
              </a:spcAft>
            </a:pPr>
            <a:r>
              <a:rPr sz="1650" b="0">
                <a:solidFill>
                  <a:srgbClr val="5B636E"/>
                </a:solidFill>
                <a:latin typeface="Calibri"/>
              </a:rPr>
              <a:t>     •  89.1%, masked conditioning 68.6%, both p&lt;0.0001, both large effect sizes.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RQ2: no reliable evidence of compounding. Drift instead looks front-loaded into</a:t>
            </a:r>
          </a:p>
          <a:p>
            <a:pPr>
              <a:spcAft>
                <a:spcPts val="1200"/>
              </a:spcAft>
            </a:pPr>
            <a:r>
              <a:rPr sz="1650" b="0">
                <a:solidFill>
                  <a:srgbClr val="5B636E"/>
                </a:solidFill>
                <a:latin typeface="Calibri"/>
              </a:rPr>
              <a:t>     •  occasional catastrophic failures, a distinct and equally useful finding.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72E"/>
                </a:solidFill>
                <a:latin typeface="Calibri"/>
              </a:rPr>
              <a:t>-  Two specific mechanisms explain both reversed hypotheses, evidence the metric</a:t>
            </a:r>
          </a:p>
          <a:p>
            <a:pPr>
              <a:spcAft>
                <a:spcPts val="1200"/>
              </a:spcAft>
            </a:pPr>
            <a:r>
              <a:rPr sz="1650" b="0">
                <a:solidFill>
                  <a:srgbClr val="5B636E"/>
                </a:solidFill>
                <a:latin typeface="Calibri"/>
              </a:rPr>
              <a:t>     •  captures something real and interpretable, not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Next steps toward a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Run the built human-perceptual check to validate the Drift Score and the Edit</a:t>
            </a:r>
          </a:p>
          <a:p>
            <a:pPr>
              <a:spcAft>
                <a:spcPts val="1600"/>
              </a:spcAft>
            </a:pPr>
            <a:r>
              <a:rPr sz="1750" b="0">
                <a:solidFill>
                  <a:srgbClr val="5B636E"/>
                </a:solidFill>
                <a:latin typeface="Calibri"/>
              </a:rPr>
              <a:t>     •  Adherence Score against human judgment on the same 15 chains.</a:t>
            </a:r>
          </a:p>
          <a:p>
            <a:pPr>
              <a:spcAft>
                <a:spcPts val="16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Evaluate the Drift Score against a second, more recent editor, to test the</a:t>
            </a:r>
          </a:p>
          <a:p>
            <a:pPr>
              <a:spcAft>
                <a:spcPts val="1600"/>
              </a:spcAft>
            </a:pPr>
            <a:r>
              <a:rPr sz="1750" b="0">
                <a:solidFill>
                  <a:srgbClr val="5B636E"/>
                </a:solidFill>
                <a:latin typeface="Calibri"/>
              </a:rPr>
              <a:t>     •  model-agnosticism claimed but not exercised here.</a:t>
            </a:r>
          </a:p>
          <a:p>
            <a:pPr>
              <a:spcAft>
                <a:spcPts val="1600"/>
              </a:spcAft>
            </a:pPr>
            <a:r>
              <a:rPr sz="1900" b="0">
                <a:solidFill>
                  <a:srgbClr val="22272E"/>
                </a:solidFill>
                <a:latin typeface="Calibri"/>
              </a:rPr>
              <a:t>-  Design a metric less prone to the ceiling effect, sensitive to further degradation</a:t>
            </a:r>
          </a:p>
          <a:p>
            <a:pPr>
              <a:spcAft>
                <a:spcPts val="1600"/>
              </a:spcAft>
            </a:pPr>
            <a:r>
              <a:rPr sz="1750" b="0">
                <a:solidFill>
                  <a:srgbClr val="5B636E"/>
                </a:solidFill>
                <a:latin typeface="Calibri"/>
              </a:rPr>
              <a:t>     •  of an already-degraded image, to separate gradual compounding from sudden failure.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Detecting and Mitigating Semantic Drift in Multi-Turn Instruction-Based Image Editing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36E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C9D6E6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B6834"/>
                </a:solidFill>
                <a:latin typeface="Calibri"/>
              </a:rPr>
              <a:t>Code, dataset, and full paper: github.com/imanshadilshan/semantic_drift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