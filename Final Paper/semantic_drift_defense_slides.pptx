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B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297680"/>
            <a:ext cx="12191695" cy="5486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96596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Detecting and Mitigating Semantic Drift</a:t>
            </a:r>
          </a:p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in Multi-Turn Instruction-Based Image Editing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262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R. W. V. Imansha Dilshan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937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C9D6E6"/>
                </a:solidFill>
                <a:latin typeface="Calibri"/>
              </a:rPr>
              <a:t>Software Engineering Teaching Unit</a:t>
            </a:r>
          </a:p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C9D6E6"/>
                </a:solidFill>
                <a:latin typeface="Calibri"/>
              </a:rPr>
              <a:t>University of Kelaniya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035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EB6834"/>
                </a:solidFill>
                <a:latin typeface="Calibri"/>
              </a:rPr>
              <a:t>Undergraduate Research Project - Final Defense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B6834"/>
                </a:solidFill>
                <a:latin typeface="Calibri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Editors follow the instruction. What else do they change?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64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 b="0">
                <a:solidFill>
                  <a:srgbClr val="22272E"/>
                </a:solidFill>
                <a:latin typeface="Calibri"/>
              </a:rPr>
              <a:t>-  Instruction-based editors (InstructPix2Pix) let users refine an image turn by turn:</a:t>
            </a:r>
          </a:p>
          <a:p>
            <a:pPr>
              <a:spcAft>
                <a:spcPts val="1400"/>
              </a:spcAft>
            </a:pPr>
            <a:r>
              <a:rPr sz="1750" b="0">
                <a:solidFill>
                  <a:srgbClr val="5B636E"/>
                </a:solidFill>
                <a:latin typeface="Calibri"/>
              </a:rPr>
              <a:t>     •  "make the sky sunset" then "add a bird" then "remove the fence"</a:t>
            </a:r>
          </a:p>
          <a:p>
            <a:pPr>
              <a:spcAft>
                <a:spcPts val="1400"/>
              </a:spcAft>
            </a:pPr>
            <a:r>
              <a:rPr sz="1900" b="0">
                <a:solidFill>
                  <a:srgbClr val="22272E"/>
                </a:solidFill>
                <a:latin typeface="Calibri"/>
              </a:rPr>
              <a:t>-  A model can follow every single instruction correctly, and still drift further and</a:t>
            </a:r>
          </a:p>
          <a:p>
            <a:pPr>
              <a:spcAft>
                <a:spcPts val="1400"/>
              </a:spcAft>
            </a:pPr>
            <a:r>
              <a:rPr sz="1900" b="0">
                <a:solidFill>
                  <a:srgbClr val="22272E"/>
                </a:solidFill>
                <a:latin typeface="Calibri"/>
              </a:rPr>
              <a:t>-  further from what the user wanted, because nothing constrains it to leave the rest</a:t>
            </a:r>
          </a:p>
          <a:p>
            <a:pPr>
              <a:spcAft>
                <a:spcPts val="1400"/>
              </a:spcAft>
            </a:pPr>
            <a:r>
              <a:rPr sz="1900" b="0">
                <a:solidFill>
                  <a:srgbClr val="22272E"/>
                </a:solidFill>
                <a:latin typeface="Calibri"/>
              </a:rPr>
              <a:t>-  of the image alone.</a:t>
            </a:r>
          </a:p>
          <a:p>
            <a:pPr>
              <a:spcAft>
                <a:spcPts val="1400"/>
              </a:spcAft>
            </a:pPr>
            <a:r>
              <a:rPr sz="1900" b="0">
                <a:solidFill>
                  <a:srgbClr val="22272E"/>
                </a:solidFill>
                <a:latin typeface="Calibri"/>
              </a:rPr>
              <a:t>-  Existing evaluation (CLIP scores, human preference studies) checks whether the</a:t>
            </a:r>
          </a:p>
          <a:p>
            <a:pPr>
              <a:spcAft>
                <a:spcPts val="1400"/>
              </a:spcAft>
            </a:pPr>
            <a:r>
              <a:rPr sz="1900" b="0">
                <a:solidFill>
                  <a:srgbClr val="22272E"/>
                </a:solidFill>
                <a:latin typeface="Calibri"/>
              </a:rPr>
              <a:t>-  requested change happened. None of it checks what else changed as a side effect.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5349240"/>
            <a:ext cx="11064240" cy="105156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50468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F3B5C"/>
                </a:solidFill>
                <a:latin typeface="Calibri"/>
              </a:rPr>
              <a:t>This project calls that side effect semantic drift, and asks whether it can be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70448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F3B5C"/>
                </a:solidFill>
                <a:latin typeface="Calibri"/>
              </a:rPr>
              <a:t>measured automatically and reduced cheaply.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36E"/>
                </a:solidFill>
                <a:latin typeface="Calibri"/>
              </a:rPr>
              <a:t>Detecting and Mitigating Semantic Drift in Multi-Turn Instruction-Based Image Editing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36E"/>
                </a:solidFill>
                <a:latin typeface="Calibri"/>
              </a:rPr>
              <a:t>2 / 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B6834"/>
                </a:solidFill>
                <a:latin typeface="Calibri"/>
              </a:rPr>
              <a:t>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Three research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1554480" cy="132588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84248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RQ1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673352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2272E"/>
                </a:solidFill>
                <a:latin typeface="Calibri"/>
              </a:rPr>
              <a:t>Can unintended drift be measured automatically,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167128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5B636E"/>
                </a:solidFill>
                <a:latin typeface="Calibri"/>
              </a:rPr>
              <a:t>without manually inspecting every edited image?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154680"/>
            <a:ext cx="1554480" cy="1325880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538728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RQ2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3227832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2272E"/>
                </a:solidFill>
                <a:latin typeface="Calibri"/>
              </a:rPr>
              <a:t>Does drift accumulate as an edit chain gets longer,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3721608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5B636E"/>
                </a:solidFill>
                <a:latin typeface="Calibri"/>
              </a:rPr>
              <a:t>so later instructions cause more collateral damage than earlier ones?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709160"/>
            <a:ext cx="1554480" cy="132588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093208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Calibri"/>
              </a:rPr>
              <a:t>RQ3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4782312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22272E"/>
                </a:solidFill>
                <a:latin typeface="Calibri"/>
              </a:rPr>
              <a:t>Can cheap, pretrained-model-only interventions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5276088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5B636E"/>
                </a:solidFill>
                <a:latin typeface="Calibri"/>
              </a:rPr>
              <a:t>reduce that drift?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172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5B636E"/>
                </a:solidFill>
                <a:latin typeface="Calibri"/>
              </a:rPr>
              <a:t>Scoped for a single contributor, 30 days, pretrained models only, free-tier compute.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36E"/>
                </a:solidFill>
                <a:latin typeface="Calibri"/>
              </a:rPr>
              <a:t>Detecting and Mitigating Semantic Drift in Multi-Turn Instruction-Based Image Editing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36E"/>
                </a:solidFill>
                <a:latin typeface="Calibri"/>
              </a:rPr>
              <a:t>3 / 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B6834"/>
                </a:solidFill>
                <a:latin typeface="Calibri"/>
              </a:rPr>
              <a:t>RELATED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What prior approaches do not measure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91640"/>
            <a:ext cx="11064240" cy="96012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64792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2272E"/>
                </a:solidFill>
                <a:latin typeface="Calibri"/>
              </a:rPr>
              <a:t>Prompt-to-Prompt / Plug-and-Play / MasaCtrl / Null-text Inv.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6712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B636E"/>
                </a:solidFill>
                <a:latin typeface="Calibri"/>
              </a:rPr>
              <a:t>Produce a more consistent single edit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788920"/>
            <a:ext cx="11064240" cy="96012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862072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2272E"/>
                </a:solidFill>
                <a:latin typeface="Calibri"/>
              </a:rPr>
              <a:t>Emu Edit / HIVE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6440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B636E"/>
                </a:solidFill>
                <a:latin typeface="Calibri"/>
              </a:rPr>
              <a:t>Improve whether the requested edit happened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886200"/>
            <a:ext cx="11064240" cy="96012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959352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22272E"/>
                </a:solidFill>
                <a:latin typeface="Calibri"/>
              </a:rPr>
              <a:t>MagicBrush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6168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B636E"/>
                </a:solidFill>
                <a:latin typeface="Calibri"/>
              </a:rPr>
              <a:t>Multi-turn data, but only checks the target region changed correctly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983480"/>
            <a:ext cx="11064240" cy="96012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5056632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FFFFFF"/>
                </a:solidFill>
                <a:latin typeface="Calibri"/>
              </a:rPr>
              <a:t>This work (Drift Score)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458968"/>
            <a:ext cx="10607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DDE8F7"/>
                </a:solidFill>
                <a:latin typeface="Calibri"/>
              </a:rPr>
              <a:t>Measures unintended change, across a chain, with mitigations compared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36E"/>
                </a:solidFill>
                <a:latin typeface="Calibri"/>
              </a:rPr>
              <a:t>Detecting and Mitigating Semantic Drift in Multi-Turn Instruction-Based Image Editing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36E"/>
                </a:solidFill>
                <a:latin typeface="Calibri"/>
              </a:rPr>
              <a:t>4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B6834"/>
                </a:solidFill>
                <a:latin typeface="Calibri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The Drift Score</a:t>
            </a:r>
          </a:p>
        </p:txBody>
      </p:sp>
      <p:pic>
        <p:nvPicPr>
          <p:cNvPr id="5" name="Picture 4" descr="fig1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8603" y="1463040"/>
            <a:ext cx="4524314" cy="1920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3520440"/>
            <a:ext cx="110642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>
                <a:solidFill>
                  <a:srgbClr val="22272E"/>
                </a:solidFill>
                <a:latin typeface="Calibri"/>
              </a:rPr>
              <a:t>-  Segment the pre-edit image with SAM into regions.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2272E"/>
                </a:solidFill>
                <a:latin typeface="Calibri"/>
              </a:rPr>
              <a:t>-  Identify the target region: the box CLIP finds most similar to the instruction text.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2272E"/>
                </a:solidFill>
                <a:latin typeface="Calibri"/>
              </a:rPr>
              <a:t>-  For every OTHER (non-target) region, measure 1 minus CLIP cosine similarity between</a:t>
            </a:r>
          </a:p>
          <a:p>
            <a:pPr>
              <a:spcAft>
                <a:spcPts val="800"/>
              </a:spcAft>
            </a:pPr>
            <a:r>
              <a:rPr sz="1550" b="0">
                <a:solidFill>
                  <a:srgbClr val="5B636E"/>
                </a:solidFill>
                <a:latin typeface="Calibri"/>
              </a:rPr>
              <a:t>     •  its pre-edit and post-edit crop.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2272E"/>
                </a:solidFill>
                <a:latin typeface="Calibri"/>
              </a:rPr>
              <a:t>-  Per-step Drift Score = mean drift over non-target regions.</a:t>
            </a:r>
          </a:p>
          <a:p>
            <a:pPr>
              <a:spcAft>
                <a:spcPts val="800"/>
              </a:spcAft>
            </a:pPr>
            <a:r>
              <a:rPr sz="1700" b="0">
                <a:solidFill>
                  <a:srgbClr val="22272E"/>
                </a:solidFill>
                <a:latin typeface="Calibri"/>
              </a:rPr>
              <a:t>-  Cumulative Drift Score = sum of per-step scores across a chain. Higher = more</a:t>
            </a:r>
          </a:p>
          <a:p>
            <a:pPr>
              <a:spcAft>
                <a:spcPts val="800"/>
              </a:spcAft>
            </a:pPr>
            <a:r>
              <a:rPr sz="1550" b="0">
                <a:solidFill>
                  <a:srgbClr val="5B636E"/>
                </a:solidFill>
                <a:latin typeface="Calibri"/>
              </a:rPr>
              <a:t>     •  unintended change accumulated.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36E"/>
                </a:solidFill>
                <a:latin typeface="Calibri"/>
              </a:rPr>
              <a:t>Detecting and Mitigating Semantic Drift in Multi-Turn Instruction-Based Image Editing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36E"/>
                </a:solidFill>
                <a:latin typeface="Calibri"/>
              </a:rPr>
              <a:t>5 / 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B6834"/>
                </a:solidFill>
                <a:latin typeface="Calibri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Dataset: 120 four-step edit chains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3566160" cy="155448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i="0">
                <a:solidFill>
                  <a:srgbClr val="2A78D6"/>
                </a:solidFill>
                <a:latin typeface="Calibri"/>
              </a:rPr>
              <a:t>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5B636E"/>
                </a:solidFill>
                <a:latin typeface="Calibri"/>
              </a:rPr>
              <a:t>COCO val2017 images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79" y="1600200"/>
            <a:ext cx="3566160" cy="155448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79" y="173736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i="0">
                <a:solidFill>
                  <a:srgbClr val="EB6834"/>
                </a:solidFill>
                <a:latin typeface="Calibri"/>
              </a:rPr>
              <a:t>120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79" y="26060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5B636E"/>
                </a:solidFill>
                <a:latin typeface="Calibri"/>
              </a:rPr>
              <a:t>edit chains, 4 steps each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18" y="1600200"/>
            <a:ext cx="3566160" cy="155448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8" y="173736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i="0">
                <a:solidFill>
                  <a:srgbClr val="1BAF7A"/>
                </a:solidFill>
                <a:latin typeface="Calibri"/>
              </a:rPr>
              <a:t>480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8" y="26060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5B636E"/>
                </a:solidFill>
                <a:latin typeface="Calibri"/>
              </a:rPr>
              <a:t>individual edit instructions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429000"/>
            <a:ext cx="11064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0">
                <a:solidFill>
                  <a:srgbClr val="22272E"/>
                </a:solidFill>
                <a:latin typeface="Calibri"/>
              </a:rPr>
              <a:t>-  Chain A (object-level): 4 localized, single-object edits per image</a:t>
            </a:r>
          </a:p>
          <a:p>
            <a:pPr>
              <a:spcAft>
                <a:spcPts val="800"/>
              </a:spcAft>
            </a:pPr>
            <a:r>
              <a:rPr sz="1450" b="0">
                <a:solidFill>
                  <a:srgbClr val="5B636E"/>
                </a:solidFill>
                <a:latin typeface="Calibri"/>
              </a:rPr>
              <a:t>     •  e.g. change a horse's color, then remove an obstacle in front of it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72E"/>
                </a:solidFill>
                <a:latin typeface="Calibri"/>
              </a:rPr>
              <a:t>-  Chain B (global): 4 broad, scene-level edits per image</a:t>
            </a:r>
          </a:p>
          <a:p>
            <a:pPr>
              <a:spcAft>
                <a:spcPts val="800"/>
              </a:spcAft>
            </a:pPr>
            <a:r>
              <a:rPr sz="1450" b="0">
                <a:solidFill>
                  <a:srgbClr val="5B636E"/>
                </a:solidFill>
                <a:latin typeface="Calibri"/>
              </a:rPr>
              <a:t>     •  e.g. make the scene rainy, then add sunset lighting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72E"/>
                </a:solidFill>
                <a:latin typeface="Calibri"/>
              </a:rPr>
              <a:t>-  Every image inspected individually and hand-written, not template-generated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22272E"/>
                </a:solidFill>
                <a:latin typeface="Calibri"/>
              </a:rPr>
              <a:t>-  Instruction verbs (all 480): change 108, add 114, remove 60, global/stylistic 198</a:t>
            </a:r>
          </a:p>
          <a:p>
            <a:pPr>
              <a:spcAft>
                <a:spcPts val="800"/>
              </a:spcAft>
            </a:pPr>
            <a:r>
              <a:rPr sz="1450" b="0">
                <a:solidFill>
                  <a:srgbClr val="5B636E"/>
                </a:solidFill>
                <a:latin typeface="Calibri"/>
              </a:rPr>
              <a:t>     •  (hand-written by a single author, a stated bias, not crowd-sourced)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36E"/>
                </a:solidFill>
                <a:latin typeface="Calibri"/>
              </a:rPr>
              <a:t>Detecting and Mitigating Semantic Drift in Multi-Turn Instruction-Based Image Editing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36E"/>
                </a:solidFill>
                <a:latin typeface="Calibri"/>
              </a:rPr>
              <a:t>6 / 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B6834"/>
                </a:solidFill>
                <a:latin typeface="Calibri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Two mitigation strategies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5394960" cy="420624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EB6834"/>
                </a:solidFill>
                <a:latin typeface="Calibri"/>
              </a:rPr>
              <a:t>Region-Locking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331720"/>
            <a:ext cx="4846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22272E"/>
                </a:solidFill>
                <a:latin typeface="Calibri"/>
              </a:rPr>
              <a:t>-  Run the edit on the full image as usual.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22272E"/>
                </a:solidFill>
                <a:latin typeface="Calibri"/>
              </a:rPr>
              <a:t>-  Revert every pixel outside the target region's box back to the pre-edit image.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22272E"/>
                </a:solidFill>
                <a:latin typeface="Calibri"/>
              </a:rPr>
              <a:t>-  A correction applied AFTER generation.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00200"/>
            <a:ext cx="5394960" cy="420624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7830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BAF7A"/>
                </a:solidFill>
                <a:latin typeface="Calibri"/>
              </a:rPr>
              <a:t>Masked Conditioning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331720"/>
            <a:ext cx="48463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>
                <a:solidFill>
                  <a:srgbClr val="22272E"/>
                </a:solidFill>
                <a:latin typeface="Calibri"/>
              </a:rPr>
              <a:t>-  Crop the image to the target region, plus a 32-pixel context margin.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22272E"/>
                </a:solidFill>
                <a:latin typeface="Calibri"/>
              </a:rPr>
              <a:t>-  Generate the edit only on that crop.</a:t>
            </a:r>
          </a:p>
          <a:p>
            <a:pPr>
              <a:spcAft>
                <a:spcPts val="1200"/>
              </a:spcAft>
            </a:pPr>
            <a:r>
              <a:rPr sz="1600" b="0">
                <a:solidFill>
                  <a:srgbClr val="22272E"/>
                </a:solidFill>
                <a:latin typeface="Calibri"/>
              </a:rPr>
              <a:t>-  Paste the result back into the full frame. The model never sees the rest of the</a:t>
            </a:r>
          </a:p>
          <a:p>
            <a:pPr>
              <a:spcAft>
                <a:spcPts val="1200"/>
              </a:spcAft>
            </a:pPr>
            <a:r>
              <a:rPr sz="1450" b="0">
                <a:solidFill>
                  <a:srgbClr val="5B636E"/>
                </a:solidFill>
                <a:latin typeface="Calibri"/>
              </a:rPr>
              <a:t>     •  image, a constraint applied AT generation time.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1">
                <a:solidFill>
                  <a:srgbClr val="5B636E"/>
                </a:solidFill>
                <a:latin typeface="Calibri"/>
              </a:rPr>
              <a:t>Both use the identical SAM + CLIP target-region procedure the Drift Score itself uses.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36E"/>
                </a:solidFill>
                <a:latin typeface="Calibri"/>
              </a:rPr>
              <a:t>Detecting and Mitigating Semantic Drift in Multi-Turn Instruction-Based Image Editing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36E"/>
                </a:solidFill>
                <a:latin typeface="Calibri"/>
              </a:rPr>
              <a:t>7 / 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B6834"/>
                </a:solidFill>
                <a:latin typeface="Calibri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A second, independent check: Edit Adherence Score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2272E"/>
                </a:solidFill>
                <a:latin typeface="Calibri"/>
              </a:rPr>
              <a:t>-  Low unintended change only matters if the requested edit still happened.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72E"/>
                </a:solidFill>
                <a:latin typeface="Calibri"/>
              </a:rPr>
              <a:t>-  Edit Adherence Score = whole-image CLIP similarity between the final image and the</a:t>
            </a:r>
          </a:p>
          <a:p>
            <a:pPr>
              <a:spcAft>
                <a:spcPts val="1000"/>
              </a:spcAft>
            </a:pPr>
            <a:r>
              <a:rPr sz="1650" b="0">
                <a:solidFill>
                  <a:srgbClr val="5B636E"/>
                </a:solidFill>
                <a:latin typeface="Calibri"/>
              </a:rPr>
              <a:t>     •  final instruction's text.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72E"/>
                </a:solidFill>
                <a:latin typeface="Calibri"/>
              </a:rPr>
              <a:t>-  Computed identically for all three conditions, with no region segmentation at all,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2272E"/>
                </a:solidFill>
                <a:latin typeface="Calibri"/>
              </a:rPr>
              <a:t>-  so it cannot inherit the target-box definition the Drift Score and region-locking share.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977639"/>
            <a:ext cx="11064240" cy="1554480"/>
          </a:xfrm>
          <a:prstGeom prst="rect">
            <a:avLst/>
          </a:prstGeom>
          <a:solidFill>
            <a:srgbClr val="FBEE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EB6834"/>
                </a:solidFill>
                <a:latin typeface="Calibri"/>
              </a:rPr>
              <a:t>Why this matters: region-locking's low drift score is EXPECTED almost by definition,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17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EB6834"/>
                </a:solidFill>
                <a:latin typeface="Calibri"/>
              </a:rPr>
              <a:t>since it reverts pixels using the same box the score excludes. This metric answers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074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EB6834"/>
                </a:solidFill>
                <a:latin typeface="Calibri"/>
              </a:rPr>
              <a:t>that concern directly, with independent evidence.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36E"/>
                </a:solidFill>
                <a:latin typeface="Calibri"/>
              </a:rPr>
              <a:t>Detecting and Mitigating Semantic Drift in Multi-Turn Instruction-Based Image Editing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36E"/>
                </a:solidFill>
                <a:latin typeface="Calibri"/>
              </a:rPr>
              <a:t>8 / 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B6834"/>
                </a:solidFill>
                <a:latin typeface="Calibri"/>
              </a:rPr>
              <a:t>RESULTS - RQ1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Does the score agree with what the eye sees?</a:t>
            </a:r>
          </a:p>
        </p:txBody>
      </p:sp>
      <p:pic>
        <p:nvPicPr>
          <p:cNvPr id="5" name="Picture 4" descr="fig5_surfer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72057"/>
            <a:ext cx="5486400" cy="299948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57200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5B636E"/>
                </a:solidFill>
                <a:latin typeface="Calibri"/>
              </a:rPr>
              <a:t>Lowest-scoring chain (0.082): only the outfit and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5B636E"/>
                </a:solidFill>
                <a:latin typeface="Calibri"/>
              </a:rPr>
              <a:t>surfboard color change; wave, spray, and sky untouched.</a:t>
            </a:r>
          </a:p>
        </p:txBody>
      </p:sp>
      <p:pic>
        <p:nvPicPr>
          <p:cNvPr id="7" name="Picture 6" descr="fig3_qualitative_exam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220539"/>
            <a:ext cx="5394960" cy="150252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217920" y="4572000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5B636E"/>
                </a:solidFill>
                <a:latin typeface="Calibri"/>
              </a:rPr>
              <a:t>Highest-scoring chain (0.565): a severe editing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5B636E"/>
                </a:solidFill>
                <a:latin typeface="Calibri"/>
              </a:rPr>
              <a:t>failure, collapses to near-black by step 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623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F3B5C"/>
                </a:solidFill>
                <a:latin typeface="Calibri"/>
              </a:rPr>
              <a:t>The metric correctly ranks the best and worst chains in the dataset, agreement between the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F3B5C"/>
                </a:solidFill>
                <a:latin typeface="Calibri"/>
              </a:rPr>
              <a:t>number and visible content that a purely statistical validation cannot substitute for.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36E"/>
                </a:solidFill>
                <a:latin typeface="Calibri"/>
              </a:rPr>
              <a:t>Detecting and Mitigating Semantic Drift in Multi-Turn Instruction-Based Image Editing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36E"/>
                </a:solidFill>
                <a:latin typeface="Calibri"/>
              </a:rPr>
              <a:t>9 / 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B6834"/>
                </a:solidFill>
                <a:latin typeface="Calibri"/>
              </a:rPr>
              <a:t>RESULTS - RQ3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Both mitigations cut drift by a wide margin</a:t>
            </a:r>
          </a:p>
        </p:txBody>
      </p:sp>
      <p:pic>
        <p:nvPicPr>
          <p:cNvPr id="5" name="Picture 4" descr="fig2_drift_by_cond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375" y="1463040"/>
            <a:ext cx="5338689" cy="42062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766560" y="1920240"/>
            <a:ext cx="1737360" cy="566928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203911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Condition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8503920" y="1920240"/>
            <a:ext cx="868680" cy="566928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0" y="2039112"/>
            <a:ext cx="868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Mean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72600" y="1920240"/>
            <a:ext cx="1051560" cy="566928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72600" y="2039112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Reduction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24160" y="1920240"/>
            <a:ext cx="1051560" cy="566928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60" y="2039112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75720" y="1920240"/>
            <a:ext cx="685800" cy="566928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75720" y="2039112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dz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66560" y="2487168"/>
            <a:ext cx="1737360" cy="566928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26060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2272E"/>
                </a:solidFill>
                <a:latin typeface="Calibri"/>
              </a:rPr>
              <a:t>Baseline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2487168"/>
            <a:ext cx="868680" cy="566928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2606040"/>
            <a:ext cx="868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22272E"/>
                </a:solidFill>
                <a:latin typeface="Calibri"/>
              </a:rPr>
              <a:t>0.293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372600" y="2487168"/>
            <a:ext cx="1051560" cy="566928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72600" y="2606040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22272E"/>
                </a:solidFill>
                <a:latin typeface="Calibri"/>
              </a:rPr>
              <a:t>-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424160" y="2487168"/>
            <a:ext cx="1051560" cy="566928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24160" y="2606040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22272E"/>
                </a:solidFill>
                <a:latin typeface="Calibri"/>
              </a:rPr>
              <a:t>-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75720" y="2487168"/>
            <a:ext cx="685800" cy="566928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75720" y="2606040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22272E"/>
                </a:solidFill>
                <a:latin typeface="Calibri"/>
              </a:rPr>
              <a:t>-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66560" y="3054096"/>
            <a:ext cx="17373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0" y="317296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2272E"/>
                </a:solidFill>
                <a:latin typeface="Calibri"/>
              </a:rPr>
              <a:t>Masked Cond.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03920" y="3054096"/>
            <a:ext cx="8686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0" y="3172968"/>
            <a:ext cx="868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22272E"/>
                </a:solidFill>
                <a:latin typeface="Calibri"/>
              </a:rPr>
              <a:t>0.092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372600" y="3054096"/>
            <a:ext cx="10515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72600" y="3172968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22272E"/>
                </a:solidFill>
                <a:latin typeface="Calibri"/>
              </a:rPr>
              <a:t>68.6%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424160" y="3054096"/>
            <a:ext cx="10515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24160" y="3172968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22272E"/>
                </a:solidFill>
                <a:latin typeface="Calibri"/>
              </a:rPr>
              <a:t>&lt;0.0001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475720" y="3054096"/>
            <a:ext cx="68580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75720" y="3172968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22272E"/>
                </a:solidFill>
                <a:latin typeface="Calibri"/>
              </a:rPr>
              <a:t>1.73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66560" y="3621024"/>
            <a:ext cx="1737360" cy="566928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0" y="3739896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22272E"/>
                </a:solidFill>
                <a:latin typeface="Calibri"/>
              </a:rPr>
              <a:t>Region-Locking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03920" y="3621024"/>
            <a:ext cx="868680" cy="566928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03920" y="3739896"/>
            <a:ext cx="868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22272E"/>
                </a:solidFill>
                <a:latin typeface="Calibri"/>
              </a:rPr>
              <a:t>0.032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372600" y="3621024"/>
            <a:ext cx="1051560" cy="566928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72600" y="3739896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22272E"/>
                </a:solidFill>
                <a:latin typeface="Calibri"/>
              </a:rPr>
              <a:t>89.1%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424160" y="3621024"/>
            <a:ext cx="1051560" cy="566928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424160" y="3739896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22272E"/>
                </a:solidFill>
                <a:latin typeface="Calibri"/>
              </a:rPr>
              <a:t>&lt;0.0001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475720" y="3621024"/>
            <a:ext cx="685800" cy="566928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475720" y="3739896"/>
            <a:ext cx="685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 i="0">
                <a:solidFill>
                  <a:srgbClr val="22272E"/>
                </a:solidFill>
                <a:latin typeface="Calibri"/>
              </a:rPr>
              <a:t>2.68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0" y="4370832"/>
            <a:ext cx="5029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5B636E"/>
                </a:solidFill>
                <a:latin typeface="Calibri"/>
              </a:rPr>
              <a:t>Region-locking also beats masked conditioning</a:t>
            </a:r>
          </a:p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5B636E"/>
                </a:solidFill>
                <a:latin typeface="Calibri"/>
              </a:rPr>
              <a:t>directly (p&lt;0.0001, dz=1.05). Rank-biserial</a:t>
            </a:r>
          </a:p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5B636E"/>
                </a:solidFill>
                <a:latin typeface="Calibri"/>
              </a:rPr>
              <a:t>correlation = 1.00: every one of 120 paired</a:t>
            </a:r>
          </a:p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5B636E"/>
                </a:solidFill>
                <a:latin typeface="Calibri"/>
              </a:rPr>
              <a:t>chains favored region-locking.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36E"/>
                </a:solidFill>
                <a:latin typeface="Calibri"/>
              </a:rPr>
              <a:t>Detecting and Mitigating Semantic Drift in Multi-Turn Instruction-Based Image Editing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4712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36E"/>
                </a:solidFill>
                <a:latin typeface="Calibri"/>
              </a:rPr>
              <a:t>10 / 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B6834"/>
                </a:solidFill>
                <a:latin typeface="Calibri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Real, but modest, cost to instruction-following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691640"/>
            <a:ext cx="2834640" cy="566928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10512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Condition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566160" y="1691640"/>
            <a:ext cx="1737360" cy="566928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81051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CLIP Score</a:t>
            </a:r>
          </a:p>
        </p:txBody>
      </p:sp>
      <p:sp>
        <p:nvSpPr>
          <p:cNvPr id="9" name="Rectangle 8"/>
          <p:cNvSpPr/>
          <p:nvPr/>
        </p:nvSpPr>
        <p:spPr>
          <a:xfrm>
            <a:off x="5303520" y="1691640"/>
            <a:ext cx="1737360" cy="566928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0" y="181051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vs. Baseline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040880" y="1691640"/>
            <a:ext cx="1737360" cy="566928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181051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778240" y="1691640"/>
            <a:ext cx="1280160" cy="566928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0" y="1810512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dz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2258568"/>
            <a:ext cx="2834640" cy="566928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37744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22272E"/>
                </a:solidFill>
                <a:latin typeface="Calibri"/>
              </a:rPr>
              <a:t>Baseline (pre-edit)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566160" y="2258568"/>
            <a:ext cx="1737360" cy="566928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23774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2272E"/>
                </a:solidFill>
                <a:latin typeface="Calibri"/>
              </a:rPr>
              <a:t>0.230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03520" y="2258568"/>
            <a:ext cx="1737360" cy="566928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0" y="23774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2272E"/>
                </a:solidFill>
                <a:latin typeface="Calibri"/>
              </a:rPr>
              <a:t>-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40880" y="2258568"/>
            <a:ext cx="1737360" cy="566928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0" y="237744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2272E"/>
                </a:solidFill>
                <a:latin typeface="Calibri"/>
              </a:rPr>
              <a:t>-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78240" y="2258568"/>
            <a:ext cx="1280160" cy="566928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0" y="237744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2272E"/>
                </a:solidFill>
                <a:latin typeface="Calibri"/>
              </a:rPr>
              <a:t>-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2825496"/>
            <a:ext cx="28346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294436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22272E"/>
                </a:solidFill>
                <a:latin typeface="Calibri"/>
              </a:rPr>
              <a:t>Baseline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66160" y="2825496"/>
            <a:ext cx="17373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66160" y="294436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2272E"/>
                </a:solidFill>
                <a:latin typeface="Calibri"/>
              </a:rPr>
              <a:t>0.245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03520" y="2825496"/>
            <a:ext cx="17373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0" y="294436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2272E"/>
                </a:solidFill>
                <a:latin typeface="Calibri"/>
              </a:rPr>
              <a:t>-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040880" y="2825496"/>
            <a:ext cx="17373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40880" y="2944368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2272E"/>
                </a:solidFill>
                <a:latin typeface="Calibri"/>
              </a:rPr>
              <a:t>-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778240" y="2825496"/>
            <a:ext cx="12801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0" y="294436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2272E"/>
                </a:solidFill>
                <a:latin typeface="Calibri"/>
              </a:rPr>
              <a:t>-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" y="3392424"/>
            <a:ext cx="2834640" cy="566928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3511296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22272E"/>
                </a:solidFill>
                <a:latin typeface="Calibri"/>
              </a:rPr>
              <a:t>Masked Conditioning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66160" y="3392424"/>
            <a:ext cx="1737360" cy="566928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66160" y="3511296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2272E"/>
                </a:solidFill>
                <a:latin typeface="Calibri"/>
              </a:rPr>
              <a:t>0.225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303520" y="3392424"/>
            <a:ext cx="1737360" cy="566928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303520" y="3511296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2272E"/>
                </a:solidFill>
                <a:latin typeface="Calibri"/>
              </a:rPr>
              <a:t>-0.020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040880" y="3392424"/>
            <a:ext cx="1737360" cy="566928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40880" y="3511296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2272E"/>
                </a:solidFill>
                <a:latin typeface="Calibri"/>
              </a:rPr>
              <a:t>&lt;0.0001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778240" y="3392424"/>
            <a:ext cx="1280160" cy="566928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78240" y="3511296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2272E"/>
                </a:solidFill>
                <a:latin typeface="Calibri"/>
              </a:rPr>
              <a:t>-0.51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" y="3959352"/>
            <a:ext cx="28346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31520" y="4078224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22272E"/>
                </a:solidFill>
                <a:latin typeface="Calibri"/>
              </a:rPr>
              <a:t>Region-Locking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566160" y="3959352"/>
            <a:ext cx="17373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566160" y="4078224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2272E"/>
                </a:solidFill>
                <a:latin typeface="Calibri"/>
              </a:rPr>
              <a:t>0.217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303520" y="3959352"/>
            <a:ext cx="17373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03520" y="4078224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2272E"/>
                </a:solidFill>
                <a:latin typeface="Calibri"/>
              </a:rPr>
              <a:t>-0.028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040880" y="3959352"/>
            <a:ext cx="17373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040880" y="4078224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2272E"/>
                </a:solidFill>
                <a:latin typeface="Calibri"/>
              </a:rPr>
              <a:t>&lt;0.0001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778240" y="3959352"/>
            <a:ext cx="12801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778240" y="4078224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22272E"/>
                </a:solidFill>
                <a:latin typeface="Calibri"/>
              </a:rPr>
              <a:t>-0.68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31520" y="4663440"/>
            <a:ext cx="10698480" cy="1508760"/>
          </a:xfrm>
          <a:prstGeom prst="rect">
            <a:avLst/>
          </a:prstGeom>
          <a:solidFill>
            <a:srgbClr val="E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05840" y="4800600"/>
            <a:ext cx="10149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 b="0">
                <a:solidFill>
                  <a:srgbClr val="22272E"/>
                </a:solidFill>
                <a:latin typeface="Calibri"/>
              </a:rPr>
              <a:t>-  Both mitigations do cost real instruction-adherence (p&lt;0.0001, not zero).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2272E"/>
                </a:solidFill>
                <a:latin typeface="Calibri"/>
              </a:rPr>
              <a:t>-  But the cost's effect size (dz 0.51 to 0.68) is under half the size of the matching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5B636E"/>
                </a:solidFill>
                <a:latin typeface="Calibri"/>
              </a:rPr>
              <a:t>     •  drift-reduction effect size (dz 1.73 to 2.68).</a:t>
            </a:r>
          </a:p>
          <a:p>
            <a:pPr>
              <a:spcAft>
                <a:spcPts val="500"/>
              </a:spcAft>
            </a:pPr>
            <a:r>
              <a:rPr sz="1400" b="0">
                <a:solidFill>
                  <a:srgbClr val="22272E"/>
                </a:solidFill>
                <a:latin typeface="Calibri"/>
              </a:rPr>
              <a:t>-  A genuine, quantified trade-off that favors both mitigations, not a free lunch,</a:t>
            </a:r>
          </a:p>
          <a:p>
            <a:pPr>
              <a:spcAft>
                <a:spcPts val="500"/>
              </a:spcAft>
            </a:pPr>
            <a:r>
              <a:rPr sz="1250" b="0">
                <a:solidFill>
                  <a:srgbClr val="5B636E"/>
                </a:solidFill>
                <a:latin typeface="Calibri"/>
              </a:rPr>
              <a:t>     •  and not circular reasoning either.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36E"/>
                </a:solidFill>
                <a:latin typeface="Calibri"/>
              </a:rPr>
              <a:t>Detecting and Mitigating Semantic Drift in Multi-Turn Instruction-Based Image Editing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24712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36E"/>
                </a:solidFill>
                <a:latin typeface="Calibri"/>
              </a:rPr>
              <a:t>11 / 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B6834"/>
                </a:solidFill>
                <a:latin typeface="Calibri"/>
              </a:rPr>
              <a:t>RESULTS - RQ2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Drift did not compound the way we expected</a:t>
            </a:r>
          </a:p>
        </p:txBody>
      </p:sp>
      <p:pic>
        <p:nvPicPr>
          <p:cNvPr id="5" name="Picture 4" descr="fig4_step_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405" y="1463040"/>
            <a:ext cx="522263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675120" y="173736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2272E"/>
                </a:solidFill>
                <a:latin typeface="Calibri"/>
              </a:rPr>
              <a:t>-  No single consecutive step transition is significant</a:t>
            </a:r>
          </a:p>
          <a:p>
            <a:pPr>
              <a:spcAft>
                <a:spcPts val="1000"/>
              </a:spcAft>
            </a:pPr>
            <a:r>
              <a:rPr sz="1450" b="0">
                <a:solidFill>
                  <a:srgbClr val="5B636E"/>
                </a:solidFill>
                <a:latin typeface="Calibri"/>
              </a:rPr>
              <a:t>     •  (1→2: p=0.85, 2→3: p=0.33, 3→4: p=0.47)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72E"/>
                </a:solidFill>
                <a:latin typeface="Calibri"/>
              </a:rPr>
              <a:t>-  Step 1 vs. step 4 IS significant (p=0.012), but</a:t>
            </a:r>
          </a:p>
          <a:p>
            <a:pPr>
              <a:spcAft>
                <a:spcPts val="1000"/>
              </a:spcAft>
            </a:pPr>
            <a:r>
              <a:rPr sz="1450" b="0">
                <a:solidFill>
                  <a:srgbClr val="5B636E"/>
                </a:solidFill>
                <a:latin typeface="Calibri"/>
              </a:rPr>
              <a:t>     •  step 4 shows LESS drift than step 1, the reverse</a:t>
            </a:r>
          </a:p>
          <a:p>
            <a:pPr>
              <a:spcAft>
                <a:spcPts val="1000"/>
              </a:spcAft>
            </a:pPr>
            <a:r>
              <a:rPr sz="1450" b="0">
                <a:solidFill>
                  <a:srgbClr val="5B636E"/>
                </a:solidFill>
                <a:latin typeface="Calibri"/>
              </a:rPr>
              <a:t>     •  of the predicted direction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72E"/>
                </a:solidFill>
                <a:latin typeface="Calibri"/>
              </a:rPr>
              <a:t>-  Explanation: a chain that collapses catastrophically</a:t>
            </a:r>
          </a:p>
          <a:p>
            <a:pPr>
              <a:spcAft>
                <a:spcPts val="1000"/>
              </a:spcAft>
            </a:pPr>
            <a:r>
              <a:rPr sz="1450" b="0">
                <a:solidFill>
                  <a:srgbClr val="5B636E"/>
                </a:solidFill>
                <a:latin typeface="Calibri"/>
              </a:rPr>
              <a:t>     •  early has little room left to register as further</a:t>
            </a:r>
          </a:p>
          <a:p>
            <a:pPr>
              <a:spcAft>
                <a:spcPts val="1000"/>
              </a:spcAft>
            </a:pPr>
            <a:r>
              <a:rPr sz="1450" b="0">
                <a:solidFill>
                  <a:srgbClr val="5B636E"/>
                </a:solidFill>
                <a:latin typeface="Calibri"/>
              </a:rPr>
              <a:t>     •  changed, a measurement ceiling effect, not proof</a:t>
            </a:r>
          </a:p>
          <a:p>
            <a:pPr>
              <a:spcAft>
                <a:spcPts val="1000"/>
              </a:spcAft>
            </a:pPr>
            <a:r>
              <a:rPr sz="1450" b="0">
                <a:solidFill>
                  <a:srgbClr val="5B636E"/>
                </a:solidFill>
                <a:latin typeface="Calibri"/>
              </a:rPr>
              <a:t>     •  that later edits are genuinely gentler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36E"/>
                </a:solidFill>
                <a:latin typeface="Calibri"/>
              </a:rPr>
              <a:t>Detecting and Mitigating Semantic Drift in Multi-Turn Instruction-Based Image Editing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36E"/>
                </a:solidFill>
                <a:latin typeface="Calibri"/>
              </a:rPr>
              <a:t>12 / 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B6834"/>
                </a:solidFill>
                <a:latin typeface="Calibri"/>
              </a:rP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Two hypotheses reversed. Both have a mechanism.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11064240" cy="210312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EB6834"/>
                </a:solidFill>
                <a:latin typeface="Calibri"/>
              </a:rPr>
              <a:t>H2: masked conditioning was predicted to beat region-locking. It didn't.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14884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2272E"/>
                </a:solidFill>
                <a:latin typeface="Calibri"/>
              </a:rPr>
              <a:t>Masked conditioning edits a padded crop (target box + 32px margin) that the Drift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2272E"/>
                </a:solidFill>
                <a:latin typeface="Calibri"/>
              </a:rPr>
              <a:t>Score does NOT exclude from scoring, so its own padding ring counts as drift even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2272E"/>
                </a:solidFill>
                <a:latin typeface="Calibri"/>
              </a:rPr>
              <a:t>when nothing objectionable happened there. Region-locking's hard revert has no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2272E"/>
                </a:solidFill>
                <a:latin typeface="Calibri"/>
              </a:rPr>
              <a:t>equivalent margin.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886200"/>
            <a:ext cx="11064240" cy="210312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0233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EB6834"/>
                </a:solidFill>
                <a:latin typeface="Calibri"/>
              </a:rPr>
              <a:t>H1: drift was predicted to compound across the chain. It didn't, measurably.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48056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2272E"/>
                </a:solidFill>
                <a:latin typeface="Calibri"/>
              </a:rPr>
              <a:t>A shared weak point for both mitigations: CLIP target-region identification is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2272E"/>
                </a:solidFill>
                <a:latin typeface="Calibri"/>
              </a:rPr>
              <a:t>unreliable for "add X" instructions, since nothing pre-existing matches well. One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2272E"/>
                </a:solidFill>
                <a:latin typeface="Calibri"/>
              </a:rPr>
              <a:t>traced failure: an "add a cap" box covered 99.6% of the frame, giving neither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2272E"/>
                </a:solidFill>
                <a:latin typeface="Calibri"/>
              </a:rPr>
              <a:t>mitigation a meaningful constraint on that step.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36E"/>
                </a:solidFill>
                <a:latin typeface="Calibri"/>
              </a:rPr>
              <a:t>Detecting and Mitigating Semantic Drift in Multi-Turn Instruction-Based Image Editing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36E"/>
                </a:solidFill>
                <a:latin typeface="Calibri"/>
              </a:rPr>
              <a:t>13 / 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B6834"/>
                </a:solidFill>
                <a:latin typeface="Calibri"/>
              </a:rPr>
              <a:t>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Seven constraints on the present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>
                <a:solidFill>
                  <a:srgbClr val="22272E"/>
                </a:solidFill>
                <a:latin typeface="Calibri"/>
              </a:rPr>
              <a:t>-  60-image, 120-chain dataset: an initial empirical study, not a definitive benchmark</a:t>
            </a:r>
          </a:p>
          <a:p>
            <a:pPr>
              <a:spcAft>
                <a:spcPts val="1600"/>
              </a:spcAft>
            </a:pPr>
            <a:r>
              <a:rPr sz="1800" b="0">
                <a:solidFill>
                  <a:srgbClr val="22272E"/>
                </a:solidFill>
                <a:latin typeface="Calibri"/>
              </a:rPr>
              <a:t>-  Instructions hand-written by a single author, not crowd-sourced (a stated bias)</a:t>
            </a:r>
          </a:p>
          <a:p>
            <a:pPr>
              <a:spcAft>
                <a:spcPts val="1600"/>
              </a:spcAft>
            </a:pPr>
            <a:r>
              <a:rPr sz="1800" b="0">
                <a:solidFill>
                  <a:srgbClr val="22272E"/>
                </a:solidFill>
                <a:latin typeface="Calibri"/>
              </a:rPr>
              <a:t>-  All results specific to InstructPix2Pix; model-agnosticism is a design goal, untested</a:t>
            </a:r>
          </a:p>
          <a:p>
            <a:pPr>
              <a:spcAft>
                <a:spcPts val="1600"/>
              </a:spcAft>
            </a:pPr>
            <a:r>
              <a:rPr sz="1800" b="0">
                <a:solidFill>
                  <a:srgbClr val="22272E"/>
                </a:solidFill>
                <a:latin typeface="Calibri"/>
              </a:rPr>
              <a:t>-  CLIP similarity is an imperfect proxy for human-perceived change</a:t>
            </a:r>
          </a:p>
          <a:p>
            <a:pPr>
              <a:spcAft>
                <a:spcPts val="1600"/>
              </a:spcAft>
            </a:pPr>
            <a:r>
              <a:rPr sz="1800" b="0">
                <a:solidFill>
                  <a:srgbClr val="22272E"/>
                </a:solidFill>
                <a:latin typeface="Calibri"/>
              </a:rPr>
              <a:t>-  The human-rating tool (15 stratified chains) was built but not administered</a:t>
            </a:r>
          </a:p>
          <a:p>
            <a:pPr>
              <a:spcAft>
                <a:spcPts val="1600"/>
              </a:spcAft>
            </a:pPr>
            <a:r>
              <a:rPr sz="1800" b="0">
                <a:solidFill>
                  <a:srgbClr val="22272E"/>
                </a:solidFill>
                <a:latin typeface="Calibri"/>
              </a:rPr>
              <a:t>-  Target-region identification is a known weak point for "add" instructions</a:t>
            </a:r>
          </a:p>
          <a:p>
            <a:pPr>
              <a:spcAft>
                <a:spcPts val="1600"/>
              </a:spcAft>
            </a:pPr>
            <a:r>
              <a:rPr sz="1800" b="0">
                <a:solidFill>
                  <a:srgbClr val="22272E"/>
                </a:solidFill>
                <a:latin typeface="Calibri"/>
              </a:rPr>
              <a:t>-  Attention-restricted editing was scoped but not implemented (RQ3 answered without it)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36E"/>
                </a:solidFill>
                <a:latin typeface="Calibri"/>
              </a:rPr>
              <a:t>Detecting and Mitigating Semantic Drift in Multi-Turn Instruction-Based Image Editing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36E"/>
                </a:solidFill>
                <a:latin typeface="Calibri"/>
              </a:rPr>
              <a:t>14 / 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B6834"/>
                </a:solidFill>
                <a:latin typeface="Calibri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RQ1 and RQ3: yes. RQ2: more interesting than yes/no.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11064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 b="0">
                <a:solidFill>
                  <a:srgbClr val="22272E"/>
                </a:solidFill>
                <a:latin typeface="Calibri"/>
              </a:rPr>
              <a:t>-  RQ1: unintended drift CAN be measured automatically, and the metric agrees with</a:t>
            </a:r>
          </a:p>
          <a:p>
            <a:pPr>
              <a:spcAft>
                <a:spcPts val="1200"/>
              </a:spcAft>
            </a:pPr>
            <a:r>
              <a:rPr sz="1650" b="0">
                <a:solidFill>
                  <a:srgbClr val="5B636E"/>
                </a:solidFill>
                <a:latin typeface="Calibri"/>
              </a:rPr>
              <a:t>     •  visible content on both the best and worst chains in the dataset.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22272E"/>
                </a:solidFill>
                <a:latin typeface="Calibri"/>
              </a:rPr>
              <a:t>-  RQ3: cheap, pretrained-model-only mitigations DO work. Region-locking cuts drift</a:t>
            </a:r>
          </a:p>
          <a:p>
            <a:pPr>
              <a:spcAft>
                <a:spcPts val="1200"/>
              </a:spcAft>
            </a:pPr>
            <a:r>
              <a:rPr sz="1650" b="0">
                <a:solidFill>
                  <a:srgbClr val="5B636E"/>
                </a:solidFill>
                <a:latin typeface="Calibri"/>
              </a:rPr>
              <a:t>     •  89.1%, masked conditioning 68.6%, both p&lt;0.0001, both large effect sizes.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22272E"/>
                </a:solidFill>
                <a:latin typeface="Calibri"/>
              </a:rPr>
              <a:t>-  RQ2: no reliable evidence of compounding. Drift instead looks front-loaded into</a:t>
            </a:r>
          </a:p>
          <a:p>
            <a:pPr>
              <a:spcAft>
                <a:spcPts val="1200"/>
              </a:spcAft>
            </a:pPr>
            <a:r>
              <a:rPr sz="1650" b="0">
                <a:solidFill>
                  <a:srgbClr val="5B636E"/>
                </a:solidFill>
                <a:latin typeface="Calibri"/>
              </a:rPr>
              <a:t>     •  occasional catastrophic failures, a distinct and equally useful finding.</a:t>
            </a:r>
          </a:p>
          <a:p>
            <a:pPr>
              <a:spcAft>
                <a:spcPts val="1200"/>
              </a:spcAft>
            </a:pPr>
            <a:r>
              <a:rPr sz="1800" b="0">
                <a:solidFill>
                  <a:srgbClr val="22272E"/>
                </a:solidFill>
                <a:latin typeface="Calibri"/>
              </a:rPr>
              <a:t>-  Two specific mechanisms explain both reversed hypotheses, evidence the metric</a:t>
            </a:r>
          </a:p>
          <a:p>
            <a:pPr>
              <a:spcAft>
                <a:spcPts val="1200"/>
              </a:spcAft>
            </a:pPr>
            <a:r>
              <a:rPr sz="1650" b="0">
                <a:solidFill>
                  <a:srgbClr val="5B636E"/>
                </a:solidFill>
                <a:latin typeface="Calibri"/>
              </a:rPr>
              <a:t>     •  captures something real and interpretable, not noise.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36E"/>
                </a:solidFill>
                <a:latin typeface="Calibri"/>
              </a:rPr>
              <a:t>Detecting and Mitigating Semantic Drift in Multi-Turn Instruction-Based Image Editing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36E"/>
                </a:solidFill>
                <a:latin typeface="Calibri"/>
              </a:rPr>
              <a:t>15 / 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B6834"/>
                </a:solidFill>
                <a:latin typeface="Calibri"/>
              </a:rPr>
              <a:t>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Next steps toward a benchmark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900" b="0">
                <a:solidFill>
                  <a:srgbClr val="22272E"/>
                </a:solidFill>
                <a:latin typeface="Calibri"/>
              </a:rPr>
              <a:t>-  Run the built human-perceptual check to validate the Drift Score and the Edit</a:t>
            </a:r>
          </a:p>
          <a:p>
            <a:pPr>
              <a:spcAft>
                <a:spcPts val="1600"/>
              </a:spcAft>
            </a:pPr>
            <a:r>
              <a:rPr sz="1750" b="0">
                <a:solidFill>
                  <a:srgbClr val="5B636E"/>
                </a:solidFill>
                <a:latin typeface="Calibri"/>
              </a:rPr>
              <a:t>     •  Adherence Score against human judgment on the same 15 chains.</a:t>
            </a:r>
          </a:p>
          <a:p>
            <a:pPr>
              <a:spcAft>
                <a:spcPts val="1600"/>
              </a:spcAft>
            </a:pPr>
            <a:r>
              <a:rPr sz="1900" b="0">
                <a:solidFill>
                  <a:srgbClr val="22272E"/>
                </a:solidFill>
                <a:latin typeface="Calibri"/>
              </a:rPr>
              <a:t>-  Evaluate the Drift Score against a second, more recent editor, to test the</a:t>
            </a:r>
          </a:p>
          <a:p>
            <a:pPr>
              <a:spcAft>
                <a:spcPts val="1600"/>
              </a:spcAft>
            </a:pPr>
            <a:r>
              <a:rPr sz="1750" b="0">
                <a:solidFill>
                  <a:srgbClr val="5B636E"/>
                </a:solidFill>
                <a:latin typeface="Calibri"/>
              </a:rPr>
              <a:t>     •  model-agnosticism claimed but not exercised here.</a:t>
            </a:r>
          </a:p>
          <a:p>
            <a:pPr>
              <a:spcAft>
                <a:spcPts val="1600"/>
              </a:spcAft>
            </a:pPr>
            <a:r>
              <a:rPr sz="1900" b="0">
                <a:solidFill>
                  <a:srgbClr val="22272E"/>
                </a:solidFill>
                <a:latin typeface="Calibri"/>
              </a:rPr>
              <a:t>-  Design a metric less prone to the ceiling effect, sensitive to further degradation</a:t>
            </a:r>
          </a:p>
          <a:p>
            <a:pPr>
              <a:spcAft>
                <a:spcPts val="1600"/>
              </a:spcAft>
            </a:pPr>
            <a:r>
              <a:rPr sz="1750" b="0">
                <a:solidFill>
                  <a:srgbClr val="5B636E"/>
                </a:solidFill>
                <a:latin typeface="Calibri"/>
              </a:rPr>
              <a:t>     •  of an already-degraded image, to separate gradual compounding from sudden failure.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B636E"/>
                </a:solidFill>
                <a:latin typeface="Calibri"/>
              </a:rPr>
              <a:t>Detecting and Mitigating Semantic Drift in Multi-Turn Instruction-Based Image Editing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5B636E"/>
                </a:solidFill>
                <a:latin typeface="Calibri"/>
              </a:rPr>
              <a:t>16 / 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B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46120"/>
            <a:ext cx="12191695" cy="54864"/>
          </a:xfrm>
          <a:prstGeom prst="rect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290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C9D6E6"/>
                </a:solidFill>
                <a:latin typeface="Calibri"/>
              </a:rP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EB6834"/>
                </a:solidFill>
                <a:latin typeface="Calibri"/>
              </a:rPr>
              <a:t>Code, dataset, and full paper: github.com/imanshadilshan/semantic_drift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